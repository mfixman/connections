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9ADB188-EEB9-44E8-AD0F-E8E5A3A8EB5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6AD9948-FBCB-4349-8E29-C27353FAC04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27517B0-3533-4C95-A312-64B9374DCFD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5611660-7DF1-4F7B-BD21-94E67A87894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C150A42-10C0-418A-BD1E-5C4F7D0E227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D5B35DA-8D20-43F8-BE47-30C022C99C9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7722DF-A016-4026-839B-34AA83A5746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105CB24-00C6-4E89-8A88-91EFB18F788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A95AAEA-B577-4151-9537-ABC185B5DA0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326407B-B216-4381-914E-18E60B15AE3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9726E3D-F5B4-4C1E-B858-B304C9DDE79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1"/>
          <p:cNvSpPr/>
          <p:nvPr/>
        </p:nvSpPr>
        <p:spPr>
          <a:xfrm>
            <a:off x="457200" y="274320"/>
            <a:ext cx="94428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Solving Maths and Logic Problems Fast</a:t>
            </a:r>
            <a:endParaRPr lang="en-GB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Box 2"/>
          <p:cNvSpPr/>
          <p:nvPr/>
        </p:nvSpPr>
        <p:spPr>
          <a:xfrm>
            <a:off x="457200" y="960120"/>
            <a:ext cx="92628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i="1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Can we teach computers to prove mathematical theorems — and do it quickly?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3"/>
          <p:cNvSpPr/>
          <p:nvPr/>
        </p:nvSpPr>
        <p:spPr>
          <a:xfrm>
            <a:off x="457200" y="164592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D4ED8"/>
                </a:solidFill>
                <a:effectLst/>
                <a:uFillTx/>
                <a:latin typeface="Calibri"/>
              </a:rPr>
              <a:t>The Problem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4"/>
          <p:cNvSpPr/>
          <p:nvPr/>
        </p:nvSpPr>
        <p:spPr>
          <a:xfrm>
            <a:off x="457200" y="2103120"/>
            <a:ext cx="5028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Theorem provers explore a </a:t>
            </a:r>
            <a:r>
              <a:rPr lang="en-US" sz="1600" b="1" u="none" strike="noStrike">
                <a:solidFill>
                  <a:srgbClr val="1D4ED8"/>
                </a:solidFill>
                <a:effectLst/>
                <a:uFillTx/>
                <a:latin typeface="Calibri"/>
              </a:rPr>
              <a:t>search tree</a:t>
            </a: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 of possible proof steps. For hard problems, this tree can be infinite — so choosing where to search matters enormously.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" name="Picture 5" descr="tableau.png"/>
          <p:cNvPicPr/>
          <p:nvPr/>
        </p:nvPicPr>
        <p:blipFill>
          <a:blip r:embed="rId1"/>
          <a:stretch/>
        </p:blipFill>
        <p:spPr>
          <a:xfrm>
            <a:off x="914400" y="2926080"/>
            <a:ext cx="3657240" cy="255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TextBox 6"/>
          <p:cNvSpPr/>
          <p:nvPr/>
        </p:nvSpPr>
        <p:spPr>
          <a:xfrm>
            <a:off x="914400" y="544068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A connection tableau: red ✕ = dead end, blue ? = still searching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7"/>
          <p:cNvSpPr/>
          <p:nvPr/>
        </p:nvSpPr>
        <p:spPr>
          <a:xfrm>
            <a:off x="6217920" y="1645920"/>
            <a:ext cx="5486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F766E"/>
                </a:solidFill>
                <a:effectLst/>
                <a:uFillTx/>
                <a:latin typeface="Calibri"/>
              </a:rPr>
              <a:t>My Approach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8"/>
          <p:cNvSpPr/>
          <p:nvPr/>
        </p:nvSpPr>
        <p:spPr>
          <a:xfrm>
            <a:off x="6217920" y="2103120"/>
            <a:ext cx="5303160" cy="13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F766E"/>
                </a:solidFill>
                <a:effectLst/>
                <a:uFillTx/>
                <a:latin typeface="Calibri"/>
              </a:rPr>
              <a:t>SAT solvers</a:t>
            </a: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 (simpler logic) got dramatically faster by learning </a:t>
            </a:r>
            <a:r>
              <a:rPr lang="en-US" sz="1600" b="1" u="none" strike="noStrike">
                <a:solidFill>
                  <a:srgbClr val="0F766E"/>
                </a:solidFill>
                <a:effectLst/>
                <a:uFillTx/>
                <a:latin typeface="Calibri"/>
              </a:rPr>
              <a:t>when to backtrack and restart</a:t>
            </a: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. I'm bringing these ideas to first-order theorem proving with ML and heuristics to decide when to cut losses and try a different path.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Picture 9" descr="node_diagram.png"/>
          <p:cNvPicPr/>
          <p:nvPr/>
        </p:nvPicPr>
        <p:blipFill>
          <a:blip r:embed="rId2"/>
          <a:stretch/>
        </p:blipFill>
        <p:spPr>
          <a:xfrm>
            <a:off x="6583680" y="3474720"/>
            <a:ext cx="4388760" cy="164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Box 10"/>
          <p:cNvSpPr/>
          <p:nvPr/>
        </p:nvSpPr>
        <p:spPr>
          <a:xfrm>
            <a:off x="6583680" y="512064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Search trace through a theorem proving problem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ectangle 11"/>
          <p:cNvSpPr/>
          <p:nvPr/>
        </p:nvSpPr>
        <p:spPr>
          <a:xfrm>
            <a:off x="0" y="5989320"/>
            <a:ext cx="12191760" cy="86832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12"/>
          <p:cNvSpPr/>
          <p:nvPr/>
        </p:nvSpPr>
        <p:spPr>
          <a:xfrm>
            <a:off x="457200" y="6080760"/>
            <a:ext cx="9143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Goal: make theorem provers solve more problems better by learning smarter search strategies, and faster by not using deep neural networks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3"/>
          <p:cNvSpPr/>
          <p:nvPr/>
        </p:nvSpPr>
        <p:spPr>
          <a:xfrm>
            <a:off x="10800000" y="6554520"/>
            <a:ext cx="14400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Martin Fixman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Rectangle 16"/>
          <p:cNvSpPr/>
          <p:nvPr/>
        </p:nvSpPr>
        <p:spPr>
          <a:xfrm>
            <a:off x="5852160" y="1645920"/>
            <a:ext cx="18000" cy="4114440"/>
          </a:xfrm>
          <a:prstGeom prst="rect">
            <a:avLst/>
          </a:prstGeom>
          <a:solidFill>
            <a:srgbClr val="DDDDD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LibreOffice/26.2.1.2$Linux_X86_64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en-GB</dc:language>
  <cp:lastModifiedBy/>
  <dcterms:modified xsi:type="dcterms:W3CDTF">2026-03-18T18:51:50Z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